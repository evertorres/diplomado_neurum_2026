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61" r:id="rId2"/>
    <p:sldId id="326" r:id="rId3"/>
    <p:sldId id="360" r:id="rId4"/>
    <p:sldId id="361" r:id="rId5"/>
    <p:sldId id="362" r:id="rId6"/>
    <p:sldId id="323" r:id="rId7"/>
    <p:sldId id="325" r:id="rId8"/>
    <p:sldId id="327" r:id="rId9"/>
    <p:sldId id="374" r:id="rId10"/>
    <p:sldId id="314" r:id="rId11"/>
    <p:sldId id="365" r:id="rId12"/>
    <p:sldId id="333" r:id="rId13"/>
    <p:sldId id="334" r:id="rId14"/>
    <p:sldId id="335" r:id="rId15"/>
    <p:sldId id="343" r:id="rId16"/>
    <p:sldId id="366" r:id="rId17"/>
    <p:sldId id="371" r:id="rId18"/>
    <p:sldId id="367" r:id="rId19"/>
    <p:sldId id="370" r:id="rId20"/>
    <p:sldId id="368" r:id="rId21"/>
    <p:sldId id="369" r:id="rId22"/>
    <p:sldId id="372" r:id="rId23"/>
    <p:sldId id="329" r:id="rId24"/>
    <p:sldId id="330" r:id="rId25"/>
    <p:sldId id="331" r:id="rId26"/>
    <p:sldId id="332" r:id="rId27"/>
    <p:sldId id="373" r:id="rId28"/>
    <p:sldId id="344" r:id="rId29"/>
    <p:sldId id="350" r:id="rId30"/>
    <p:sldId id="351" r:id="rId31"/>
    <p:sldId id="352" r:id="rId32"/>
    <p:sldId id="354" r:id="rId33"/>
    <p:sldId id="355" r:id="rId34"/>
    <p:sldId id="356" r:id="rId35"/>
    <p:sldId id="357" r:id="rId36"/>
    <p:sldId id="358" r:id="rId37"/>
    <p:sldId id="359" r:id="rId38"/>
    <p:sldId id="375" r:id="rId39"/>
    <p:sldId id="376" r:id="rId4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A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>
      <p:cViewPr varScale="1">
        <p:scale>
          <a:sx n="72" d="100"/>
          <a:sy n="72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D9C35-EB8B-4BF7-B2A9-DDBACDF84AA7}" type="datetimeFigureOut">
              <a:rPr lang="es-CO" smtClean="0"/>
              <a:t>23/04/2017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EE863-31BB-4A86-9FDE-03F8845C9E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769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9368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77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ctr">
              <a:defRPr sz="3600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052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lang="es-ES" sz="22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lang="es-E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27039BD-9A17-4C25-B0CA-E121863F736E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1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lang="es-ES" sz="20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lang="es-E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s-ES" sz="14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4DB8FD-E775-4718-B793-94F1E6F39ECB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43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4F8CC55-2483-4020-AE47-7493741FA83B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79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63729DB-4DC1-4F77-92C1-7C685F55E1AD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80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457201" y="273050"/>
            <a:ext cx="3008313" cy="3227958"/>
          </a:xfrm>
        </p:spPr>
        <p:txBody>
          <a:bodyPr anchor="b"/>
          <a:lstStyle>
            <a:lvl1pPr algn="r">
              <a:defRPr sz="3600" b="1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3501009"/>
            <a:ext cx="3008313" cy="262515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2069AA7-56A5-4B66-85AA-A3DAED3F9763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26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810650D-B926-4519-828B-DD96C04E1699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91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D4697A4-EA25-4145-987A-393FC482C097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78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036CE5D-63DB-422D-A45D-2740941C6327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520260"/>
            <a:ext cx="2895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CO" dirty="0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520260"/>
            <a:ext cx="2133600" cy="365125"/>
          </a:xfrm>
        </p:spPr>
        <p:txBody>
          <a:bodyPr/>
          <a:lstStyle>
            <a:lvl1pPr>
              <a:defRPr b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‹Nº›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9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D5C18-7D9D-4CA3-AD36-BBD654102974}" type="datetime1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23/04/2017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O" dirty="0">
                <a:solidFill>
                  <a:prstClr val="black">
                    <a:tint val="75000"/>
                  </a:prstClr>
                </a:solidFill>
              </a:rPr>
              <a:t>Juliana M. Fernández A.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A1721-306C-4EB9-B7FF-B444EA89AC4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34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r" defTabSz="914400" rtl="0" eaLnBrk="1" latinLnBrk="0" hangingPunct="1"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ver.torres@ingbiomedica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sbmi.uth.edu/nccd/better-ehr/images/better+ehr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which-ux-research-method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nngroup.com/articles/which-ux-research-method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ever.torres@ingbiomedica.com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9512" y="1412776"/>
            <a:ext cx="8784976" cy="2376264"/>
          </a:xfrm>
        </p:spPr>
        <p:txBody>
          <a:bodyPr/>
          <a:lstStyle/>
          <a:p>
            <a:r>
              <a:rPr lang="es-ES_tradnl" dirty="0"/>
              <a:t>MÓDULO DE USABILIDAD E INTEROPERABILIDAD</a:t>
            </a:r>
            <a:br>
              <a:rPr lang="es-ES_tradnl" dirty="0"/>
            </a:br>
            <a:br>
              <a:rPr lang="es-ES_tradnl" dirty="0"/>
            </a:br>
            <a:r>
              <a:rPr lang="es-ES_tradnl" dirty="0"/>
              <a:t>MARCO TURF</a:t>
            </a:r>
            <a:br>
              <a:rPr lang="es-ES_tradnl" dirty="0"/>
            </a:br>
            <a:r>
              <a:rPr lang="es-ES_tradnl" dirty="0"/>
              <a:t>ANÁLISIS DE USUARIOS Y FUNCIONALIDADES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4077072"/>
            <a:ext cx="8640960" cy="1752600"/>
          </a:xfrm>
        </p:spPr>
        <p:txBody>
          <a:bodyPr>
            <a:normAutofit/>
          </a:bodyPr>
          <a:lstStyle/>
          <a:p>
            <a:pPr algn="ctr"/>
            <a:endParaRPr lang="es-ES_tradnl" dirty="0"/>
          </a:p>
          <a:p>
            <a:pPr algn="ctr"/>
            <a:r>
              <a:rPr lang="es-ES_tradnl" dirty="0"/>
              <a:t>Docente: </a:t>
            </a:r>
          </a:p>
          <a:p>
            <a:pPr algn="ctr"/>
            <a:r>
              <a:rPr lang="es-ES_tradnl" dirty="0"/>
              <a:t>Ever Augusto Torres Silva </a:t>
            </a:r>
            <a:br>
              <a:rPr lang="es-ES_tradnl" dirty="0"/>
            </a:br>
            <a:r>
              <a:rPr lang="es-ES_tradnl" dirty="0">
                <a:hlinkClick r:id="rId2"/>
              </a:rPr>
              <a:t>ever.torres@ingbiomedica.com</a:t>
            </a:r>
            <a:r>
              <a:rPr lang="es-ES_tradnl" dirty="0"/>
              <a:t>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999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Algunas Definiciones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b="1" dirty="0"/>
              <a:t>Usabilidad: </a:t>
            </a:r>
            <a:r>
              <a:rPr lang="es-CO" dirty="0"/>
              <a:t>La usabilidad es un atributo de calidad que evalúa la facilidad con la que se utilizan las interfaces de usuario. La palabra "usabilidad" también se refiere a métodos para mejorar la facilidad de uso durante el proceso de diseño. </a:t>
            </a:r>
          </a:p>
          <a:p>
            <a:pPr algn="just"/>
            <a:endParaRPr lang="es-CO" dirty="0"/>
          </a:p>
          <a:p>
            <a:pPr algn="just"/>
            <a:r>
              <a:rPr lang="es-CO" b="1" dirty="0"/>
              <a:t>Diseño centrado en el Usuario: </a:t>
            </a:r>
            <a:r>
              <a:rPr lang="es-CO" dirty="0"/>
              <a:t>Se caracteriza por la participación activa de los usuarios y una clara comprensión de los requerimientos de los usuarios y las tareas</a:t>
            </a:r>
          </a:p>
          <a:p>
            <a:pPr marL="0" indent="0" algn="just">
              <a:buNone/>
            </a:pPr>
            <a:endParaRPr lang="es-CO" dirty="0"/>
          </a:p>
          <a:p>
            <a:pPr algn="just"/>
            <a:r>
              <a:rPr lang="es-CO" b="1" dirty="0"/>
              <a:t>Tareas: </a:t>
            </a:r>
            <a:r>
              <a:rPr lang="es-CO" dirty="0"/>
              <a:t>Los procedimientos que incluyen metas, pasos, habilidades, estado inicial, entradas, estado final y salidas requeridas para realizar una actividad. 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0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Algunas Definiciones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3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graphicFrame>
        <p:nvGraphicFramePr>
          <p:cNvPr id="7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39450"/>
              </p:ext>
            </p:extLst>
          </p:nvPr>
        </p:nvGraphicFramePr>
        <p:xfrm>
          <a:off x="323528" y="1693916"/>
          <a:ext cx="8363272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826">
                  <a:extLst>
                    <a:ext uri="{9D8B030D-6E8A-4147-A177-3AD203B41FA5}">
                      <a16:colId xmlns:a16="http://schemas.microsoft.com/office/drawing/2014/main" val="3543708867"/>
                    </a:ext>
                  </a:extLst>
                </a:gridCol>
                <a:gridCol w="3105191">
                  <a:extLst>
                    <a:ext uri="{9D8B030D-6E8A-4147-A177-3AD203B41FA5}">
                      <a16:colId xmlns:a16="http://schemas.microsoft.com/office/drawing/2014/main" val="1637178835"/>
                    </a:ext>
                  </a:extLst>
                </a:gridCol>
                <a:gridCol w="3807255">
                  <a:extLst>
                    <a:ext uri="{9D8B030D-6E8A-4147-A177-3AD203B41FA5}">
                      <a16:colId xmlns:a16="http://schemas.microsoft.com/office/drawing/2014/main" val="195714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Mediciones Representativas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14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Útil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Soporta el dominio del trabajo donde los usuarios cumplen</a:t>
                      </a:r>
                      <a:r>
                        <a:rPr lang="es-CO" baseline="0" dirty="0"/>
                        <a:t> los objetivos, independientemente de como los sistemas son implementados. </a:t>
                      </a:r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dirty="0"/>
                        <a:t>Saturación de la función</a:t>
                      </a:r>
                      <a:r>
                        <a:rPr lang="es-CO" baseline="0" dirty="0"/>
                        <a:t> del dominio a través del modelo: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Porcentaje de funciones del dominio vs todas las funciones del dominio en el dominio del trabajo.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CO" baseline="0" dirty="0"/>
                        <a:t>Saturación de la función del dominio dentro del modelo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Porcentaje de funciones dentro del dominio sobre todas las funciones (pertenezcan o no al dominio) en el sistema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4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45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Algunas Definiciones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4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89814"/>
              </p:ext>
            </p:extLst>
          </p:nvPr>
        </p:nvGraphicFramePr>
        <p:xfrm>
          <a:off x="156017" y="1119585"/>
          <a:ext cx="8831966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134">
                  <a:extLst>
                    <a:ext uri="{9D8B030D-6E8A-4147-A177-3AD203B41FA5}">
                      <a16:colId xmlns:a16="http://schemas.microsoft.com/office/drawing/2014/main" val="1491777810"/>
                    </a:ext>
                  </a:extLst>
                </a:gridCol>
                <a:gridCol w="3279212">
                  <a:extLst>
                    <a:ext uri="{9D8B030D-6E8A-4147-A177-3AD203B41FA5}">
                      <a16:colId xmlns:a16="http://schemas.microsoft.com/office/drawing/2014/main" val="2257859955"/>
                    </a:ext>
                  </a:extLst>
                </a:gridCol>
                <a:gridCol w="4020620">
                  <a:extLst>
                    <a:ext uri="{9D8B030D-6E8A-4147-A177-3AD203B41FA5}">
                      <a16:colId xmlns:a16="http://schemas.microsoft.com/office/drawing/2014/main" val="1987740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Mediciones Representativas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8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Fácil de aprender, Fácil de usar, Tolerante a los errores</a:t>
                      </a:r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b="1" dirty="0"/>
                        <a:t>Aprendizaje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dirty="0"/>
                        <a:t>Número de repeticiones antes de alcanzar un nive</a:t>
                      </a:r>
                      <a:r>
                        <a:rPr lang="es-CO" baseline="0" dirty="0"/>
                        <a:t>l de rendimiento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Número de ítems que deben ser memorizados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Número de secuencias o pasos que deben ser memorizados.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CO" b="1" baseline="0" dirty="0"/>
                        <a:t>Eficiencia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Tiempo de tareas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Pasos de tareas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Tareas exitosas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Esfuerzo Mental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CO" b="1" baseline="0" dirty="0"/>
                        <a:t>Errores y recuperación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Frecuencia de ocurrencia de error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baseline="0" dirty="0"/>
                        <a:t>Frecuencia de recuperación de errores 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36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08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Algunas definiciones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5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468823"/>
              </p:ext>
            </p:extLst>
          </p:nvPr>
        </p:nvGraphicFramePr>
        <p:xfrm>
          <a:off x="156017" y="3068960"/>
          <a:ext cx="8831966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134">
                  <a:extLst>
                    <a:ext uri="{9D8B030D-6E8A-4147-A177-3AD203B41FA5}">
                      <a16:colId xmlns:a16="http://schemas.microsoft.com/office/drawing/2014/main" val="1286677829"/>
                    </a:ext>
                  </a:extLst>
                </a:gridCol>
                <a:gridCol w="3279212">
                  <a:extLst>
                    <a:ext uri="{9D8B030D-6E8A-4147-A177-3AD203B41FA5}">
                      <a16:colId xmlns:a16="http://schemas.microsoft.com/office/drawing/2014/main" val="2402974018"/>
                    </a:ext>
                  </a:extLst>
                </a:gridCol>
                <a:gridCol w="4020620">
                  <a:extLst>
                    <a:ext uri="{9D8B030D-6E8A-4147-A177-3AD203B41FA5}">
                      <a16:colId xmlns:a16="http://schemas.microsoft.com/office/drawing/2014/main" val="3644666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Mediciones Representativas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769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Satisfactorio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Buena impresión subjetiva sobre lo útil, usable y agradable. </a:t>
                      </a:r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Varias escalas tales como entrevistas,</a:t>
                      </a:r>
                      <a:r>
                        <a:rPr lang="es-CO" baseline="0" dirty="0"/>
                        <a:t> encuestas u otros instrumentos. 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901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24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MARCO TURF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63888" y="1796801"/>
            <a:ext cx="5122912" cy="35764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b="1" dirty="0"/>
              <a:t>Un marco de referencia integrado para el análisis de usuarios, funcionalidad, representación y tareas.</a:t>
            </a:r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r>
              <a:rPr lang="es-CO" dirty="0" err="1"/>
              <a:t>Jiajie</a:t>
            </a:r>
            <a:r>
              <a:rPr lang="es-CO" dirty="0"/>
              <a:t> Zhang &amp; Muhammad </a:t>
            </a:r>
            <a:r>
              <a:rPr lang="es-CO" dirty="0" err="1"/>
              <a:t>Walji</a:t>
            </a:r>
            <a:r>
              <a:rPr lang="es-CO" dirty="0"/>
              <a:t> </a:t>
            </a:r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r>
              <a:rPr lang="es-CO" dirty="0">
                <a:hlinkClick r:id="rId2"/>
              </a:rPr>
              <a:t>https://sbmi.uth.edu/nccd/better-ehr/images/better+ehr.pdf</a:t>
            </a:r>
            <a:r>
              <a:rPr lang="es-CO" dirty="0"/>
              <a:t> 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6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1026" name="Picture 2" descr="https://image.slidesharecdn.com/betterehr-151223134030/95/better-ehr-1-638.jpg?cb=14508780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7" y="1196752"/>
            <a:ext cx="3296231" cy="494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92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MARCO TURF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800" dirty="0"/>
              <a:t>Diseño y evaluación de sistemas centrados en el usuario</a:t>
            </a:r>
          </a:p>
          <a:p>
            <a:r>
              <a:rPr lang="es-CO" sz="2800" dirty="0"/>
              <a:t>Es una expansión del </a:t>
            </a:r>
            <a:r>
              <a:rPr lang="es-CO" sz="2800" dirty="0" err="1"/>
              <a:t>UFuRT</a:t>
            </a:r>
            <a:r>
              <a:rPr lang="es-CO" sz="2800" dirty="0"/>
              <a:t> (Zhang &amp; Butler, 2007)</a:t>
            </a:r>
          </a:p>
          <a:p>
            <a:pPr lvl="1"/>
            <a:r>
              <a:rPr lang="es-CO" sz="2800" b="1" u="sng" dirty="0" err="1"/>
              <a:t>U</a:t>
            </a:r>
            <a:r>
              <a:rPr lang="es-CO" sz="2800" dirty="0" err="1"/>
              <a:t>ser</a:t>
            </a:r>
            <a:r>
              <a:rPr lang="es-CO" sz="2800" dirty="0"/>
              <a:t> </a:t>
            </a:r>
            <a:r>
              <a:rPr lang="es-CO" sz="2800" dirty="0" err="1"/>
              <a:t>analysis</a:t>
            </a:r>
            <a:endParaRPr lang="es-CO" sz="2800" dirty="0"/>
          </a:p>
          <a:p>
            <a:pPr lvl="1"/>
            <a:r>
              <a:rPr lang="es-CO" sz="2800" b="1" u="sng" dirty="0" err="1"/>
              <a:t>Fu</a:t>
            </a:r>
            <a:r>
              <a:rPr lang="es-CO" sz="2800" dirty="0" err="1"/>
              <a:t>nctional</a:t>
            </a:r>
            <a:r>
              <a:rPr lang="es-CO" sz="2800" dirty="0"/>
              <a:t> </a:t>
            </a:r>
            <a:r>
              <a:rPr lang="es-CO" sz="2800" dirty="0" err="1"/>
              <a:t>analysis</a:t>
            </a:r>
            <a:endParaRPr lang="es-CO" sz="2800" dirty="0"/>
          </a:p>
          <a:p>
            <a:pPr lvl="1"/>
            <a:r>
              <a:rPr lang="es-CO" sz="2800" b="1" u="sng" dirty="0" err="1"/>
              <a:t>R</a:t>
            </a:r>
            <a:r>
              <a:rPr lang="es-CO" sz="2800" b="1" dirty="0" err="1"/>
              <a:t>e</a:t>
            </a:r>
            <a:r>
              <a:rPr lang="es-CO" sz="2800" dirty="0" err="1"/>
              <a:t>presentation</a:t>
            </a:r>
            <a:r>
              <a:rPr lang="es-CO" sz="2800" dirty="0"/>
              <a:t> </a:t>
            </a:r>
            <a:r>
              <a:rPr lang="es-CO" sz="2800" dirty="0" err="1"/>
              <a:t>analysis</a:t>
            </a:r>
            <a:endParaRPr lang="es-CO" sz="2800" dirty="0"/>
          </a:p>
          <a:p>
            <a:pPr lvl="1"/>
            <a:r>
              <a:rPr lang="es-CO" sz="2800" b="1" u="sng" dirty="0" err="1"/>
              <a:t>T</a:t>
            </a:r>
            <a:r>
              <a:rPr lang="es-CO" sz="2800" dirty="0" err="1"/>
              <a:t>ask</a:t>
            </a:r>
            <a:r>
              <a:rPr lang="es-CO" sz="2800" dirty="0"/>
              <a:t> </a:t>
            </a:r>
            <a:r>
              <a:rPr lang="es-CO" sz="2800" dirty="0" err="1"/>
              <a:t>analysis</a:t>
            </a:r>
            <a:endParaRPr lang="es-CO" sz="2800" dirty="0"/>
          </a:p>
          <a:p>
            <a:r>
              <a:rPr lang="es-CO" sz="2800" dirty="0"/>
              <a:t>Predice niveles de rendimiento de diferentes interfaces en una tarea dada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2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Objetivos del TURF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/>
              <a:t>Evaluación y medición de la usabilidad de sistemas existentes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Adopción de las estrategias de usabilidad en el diseño de nuevos sistemas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El objetivo del TURF es generar una representación (</a:t>
            </a:r>
            <a:r>
              <a:rPr lang="es-CO" dirty="0" err="1"/>
              <a:t>Ej</a:t>
            </a:r>
            <a:r>
              <a:rPr lang="es-CO" dirty="0"/>
              <a:t>: interface - pantalla), que impacte la ontología del trabajo para un grupo de usuarios específicos, de tal forma que el desarrollo de las tareas sea optimo.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>
                <a:solidFill>
                  <a:srgbClr val="EEECE1">
                    <a:lumMod val="90000"/>
                  </a:srgbClr>
                </a:solidFill>
              </a:rPr>
              <a:t>Juliana M. Fernández A.</a:t>
            </a:r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8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05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Marco TURF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9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84" y="1196596"/>
            <a:ext cx="7974632" cy="51266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8" name="Rectángulo 7"/>
          <p:cNvSpPr/>
          <p:nvPr/>
        </p:nvSpPr>
        <p:spPr>
          <a:xfrm>
            <a:off x="584684" y="1600201"/>
            <a:ext cx="5859524" cy="2836911"/>
          </a:xfrm>
          <a:prstGeom prst="rect">
            <a:avLst/>
          </a:prstGeom>
          <a:solidFill>
            <a:schemeClr val="accent3">
              <a:lumMod val="40000"/>
              <a:lumOff val="60000"/>
              <a:alpha val="30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Globo: línea 9"/>
          <p:cNvSpPr/>
          <p:nvPr/>
        </p:nvSpPr>
        <p:spPr>
          <a:xfrm>
            <a:off x="6935924" y="1417638"/>
            <a:ext cx="1368152" cy="921957"/>
          </a:xfrm>
          <a:prstGeom prst="borderCallout1">
            <a:avLst>
              <a:gd name="adj1" fmla="val 52928"/>
              <a:gd name="adj2" fmla="val -584"/>
              <a:gd name="adj3" fmla="val 112500"/>
              <a:gd name="adj4" fmla="val -38333"/>
            </a:avLst>
          </a:prstGeom>
          <a:solidFill>
            <a:schemeClr val="accent3">
              <a:lumMod val="40000"/>
              <a:lumOff val="60000"/>
              <a:alpha val="30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dk1"/>
                </a:solidFill>
              </a:rPr>
              <a:t>Dominio del trabajo</a:t>
            </a:r>
          </a:p>
        </p:txBody>
      </p:sp>
    </p:spTree>
    <p:extLst>
      <p:ext uri="{BB962C8B-B14F-4D97-AF65-F5344CB8AC3E}">
        <p14:creationId xmlns:p14="http://schemas.microsoft.com/office/powerpoint/2010/main" val="275613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lipse 30"/>
          <p:cNvSpPr/>
          <p:nvPr/>
        </p:nvSpPr>
        <p:spPr>
          <a:xfrm>
            <a:off x="5262533" y="4815209"/>
            <a:ext cx="3870612" cy="172572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/>
          <p:cNvSpPr/>
          <p:nvPr/>
        </p:nvSpPr>
        <p:spPr>
          <a:xfrm>
            <a:off x="21474" y="4815209"/>
            <a:ext cx="4631972" cy="172572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/>
          <p:cNvSpPr/>
          <p:nvPr/>
        </p:nvSpPr>
        <p:spPr>
          <a:xfrm>
            <a:off x="2048520" y="2519417"/>
            <a:ext cx="5516120" cy="2346415"/>
          </a:xfrm>
          <a:prstGeom prst="ellipse">
            <a:avLst/>
          </a:prstGeom>
          <a:solidFill>
            <a:srgbClr val="FFFF0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/>
          <p:cNvSpPr/>
          <p:nvPr/>
        </p:nvSpPr>
        <p:spPr>
          <a:xfrm>
            <a:off x="2581813" y="748397"/>
            <a:ext cx="4248472" cy="1570222"/>
          </a:xfrm>
          <a:prstGeom prst="ellipse">
            <a:avLst/>
          </a:prstGeom>
          <a:solidFill>
            <a:srgbClr val="FDADF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69657" y="179485"/>
            <a:ext cx="6229351" cy="568912"/>
          </a:xfrm>
        </p:spPr>
        <p:txBody>
          <a:bodyPr>
            <a:normAutofit/>
          </a:bodyPr>
          <a:lstStyle/>
          <a:p>
            <a:r>
              <a:rPr lang="es-ES" sz="3000" dirty="0"/>
              <a:t>TURF: Un esquema para la usabilidad</a:t>
            </a:r>
            <a:endParaRPr lang="es-CO" sz="3000" dirty="0"/>
          </a:p>
        </p:txBody>
      </p:sp>
      <p:sp>
        <p:nvSpPr>
          <p:cNvPr id="3" name="Rectángulo redondeado 2"/>
          <p:cNvSpPr/>
          <p:nvPr/>
        </p:nvSpPr>
        <p:spPr>
          <a:xfrm>
            <a:off x="3977795" y="878473"/>
            <a:ext cx="1515793" cy="42906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tx1"/>
                </a:solidFill>
              </a:rPr>
              <a:t>USUARIOS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2981482" y="1432938"/>
            <a:ext cx="1590518" cy="42906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Conocimiento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5379056" y="5476952"/>
            <a:ext cx="1720921" cy="44665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Procedimientos</a:t>
            </a:r>
          </a:p>
        </p:txBody>
      </p:sp>
      <p:sp>
        <p:nvSpPr>
          <p:cNvPr id="15" name="Rectángulo redondeado 14"/>
          <p:cNvSpPr/>
          <p:nvPr/>
        </p:nvSpPr>
        <p:spPr>
          <a:xfrm>
            <a:off x="5366918" y="3786925"/>
            <a:ext cx="1490428" cy="42906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Operaciones</a:t>
            </a:r>
          </a:p>
        </p:txBody>
      </p:sp>
      <p:sp>
        <p:nvSpPr>
          <p:cNvPr id="16" name="Rectángulo redondeado 15"/>
          <p:cNvSpPr/>
          <p:nvPr/>
        </p:nvSpPr>
        <p:spPr>
          <a:xfrm>
            <a:off x="4066324" y="3796125"/>
            <a:ext cx="1206303" cy="42906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Limitantes</a:t>
            </a:r>
          </a:p>
        </p:txBody>
      </p:sp>
      <p:sp>
        <p:nvSpPr>
          <p:cNvPr id="17" name="Rectángulo redondeado 16"/>
          <p:cNvSpPr/>
          <p:nvPr/>
        </p:nvSpPr>
        <p:spPr>
          <a:xfrm>
            <a:off x="2844272" y="3782057"/>
            <a:ext cx="1127761" cy="42906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Objetivos</a:t>
            </a:r>
          </a:p>
        </p:txBody>
      </p:sp>
      <p:sp>
        <p:nvSpPr>
          <p:cNvPr id="18" name="Rectángulo redondeado 17"/>
          <p:cNvSpPr/>
          <p:nvPr/>
        </p:nvSpPr>
        <p:spPr>
          <a:xfrm>
            <a:off x="7216500" y="5381669"/>
            <a:ext cx="1810103" cy="59533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Procedimiento en herramientas</a:t>
            </a:r>
          </a:p>
        </p:txBody>
      </p:sp>
      <p:sp>
        <p:nvSpPr>
          <p:cNvPr id="19" name="Rectángulo redondeado 18"/>
          <p:cNvSpPr/>
          <p:nvPr/>
        </p:nvSpPr>
        <p:spPr>
          <a:xfrm>
            <a:off x="3500642" y="2492896"/>
            <a:ext cx="2526038" cy="429065"/>
          </a:xfrm>
          <a:prstGeom prst="roundRect">
            <a:avLst/>
          </a:prstGeom>
          <a:solidFill>
            <a:srgbClr val="FFFF00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tx1"/>
                </a:solidFill>
              </a:rPr>
              <a:t>FUNCIONALIDADES</a:t>
            </a:r>
          </a:p>
        </p:txBody>
      </p:sp>
      <p:sp>
        <p:nvSpPr>
          <p:cNvPr id="20" name="Rectángulo redondeado 19"/>
          <p:cNvSpPr/>
          <p:nvPr/>
        </p:nvSpPr>
        <p:spPr>
          <a:xfrm>
            <a:off x="951642" y="4707562"/>
            <a:ext cx="2665986" cy="42846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tx1"/>
                </a:solidFill>
              </a:rPr>
              <a:t>REPRESENTACION</a:t>
            </a:r>
          </a:p>
        </p:txBody>
      </p:sp>
      <p:sp>
        <p:nvSpPr>
          <p:cNvPr id="21" name="Rectángulo redondeado 20"/>
          <p:cNvSpPr/>
          <p:nvPr/>
        </p:nvSpPr>
        <p:spPr>
          <a:xfrm>
            <a:off x="6436388" y="4750606"/>
            <a:ext cx="1578516" cy="42045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b="1" dirty="0">
                <a:solidFill>
                  <a:schemeClr val="tx1"/>
                </a:solidFill>
              </a:rPr>
              <a:t>TAREAS</a:t>
            </a:r>
          </a:p>
        </p:txBody>
      </p:sp>
      <p:sp>
        <p:nvSpPr>
          <p:cNvPr id="22" name="Rectángulo redondeado 21"/>
          <p:cNvSpPr/>
          <p:nvPr/>
        </p:nvSpPr>
        <p:spPr>
          <a:xfrm>
            <a:off x="5025405" y="1415852"/>
            <a:ext cx="1329389" cy="42906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Habilidades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3807668" y="3169324"/>
            <a:ext cx="1751749" cy="42906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Objetivos/meta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2470788" y="5794800"/>
            <a:ext cx="1729984" cy="5145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Representación distribuida</a:t>
            </a:r>
          </a:p>
        </p:txBody>
      </p:sp>
      <p:sp>
        <p:nvSpPr>
          <p:cNvPr id="26" name="Rectángulo redondeado 25"/>
          <p:cNvSpPr/>
          <p:nvPr/>
        </p:nvSpPr>
        <p:spPr>
          <a:xfrm>
            <a:off x="515591" y="5762170"/>
            <a:ext cx="1729984" cy="5145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Representación </a:t>
            </a:r>
            <a:r>
              <a:rPr lang="es-ES" dirty="0" err="1">
                <a:solidFill>
                  <a:schemeClr val="tx1"/>
                </a:solidFill>
              </a:rPr>
              <a:t>isomórfica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1443634" y="5156839"/>
            <a:ext cx="1729984" cy="5145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Representación jerárquica</a:t>
            </a:r>
          </a:p>
        </p:txBody>
      </p:sp>
      <p:cxnSp>
        <p:nvCxnSpPr>
          <p:cNvPr id="33" name="Conector recto de flecha 32"/>
          <p:cNvCxnSpPr>
            <a:stCxn id="17" idx="0"/>
          </p:cNvCxnSpPr>
          <p:nvPr/>
        </p:nvCxnSpPr>
        <p:spPr>
          <a:xfrm flipV="1">
            <a:off x="3408153" y="3480723"/>
            <a:ext cx="465404" cy="301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/>
          <p:nvPr/>
        </p:nvCxnSpPr>
        <p:spPr>
          <a:xfrm flipH="1" flipV="1">
            <a:off x="5597737" y="3435904"/>
            <a:ext cx="541949" cy="343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 flipV="1">
            <a:off x="4533623" y="3570477"/>
            <a:ext cx="14067" cy="197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redondeado 60"/>
          <p:cNvSpPr/>
          <p:nvPr/>
        </p:nvSpPr>
        <p:spPr>
          <a:xfrm>
            <a:off x="3700021" y="4355019"/>
            <a:ext cx="2127280" cy="338503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Ontología del trabajo</a:t>
            </a:r>
          </a:p>
        </p:txBody>
      </p:sp>
      <p:cxnSp>
        <p:nvCxnSpPr>
          <p:cNvPr id="65" name="Conector recto de flecha 64"/>
          <p:cNvCxnSpPr/>
          <p:nvPr/>
        </p:nvCxnSpPr>
        <p:spPr>
          <a:xfrm>
            <a:off x="4806580" y="2259493"/>
            <a:ext cx="1" cy="301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>
            <a:stCxn id="17" idx="2"/>
          </p:cNvCxnSpPr>
          <p:nvPr/>
        </p:nvCxnSpPr>
        <p:spPr>
          <a:xfrm flipH="1">
            <a:off x="2284635" y="4211122"/>
            <a:ext cx="1123518" cy="42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16" idx="2"/>
          </p:cNvCxnSpPr>
          <p:nvPr/>
        </p:nvCxnSpPr>
        <p:spPr>
          <a:xfrm flipH="1">
            <a:off x="2284635" y="4225190"/>
            <a:ext cx="2384841" cy="413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>
            <a:endCxn id="21" idx="0"/>
          </p:cNvCxnSpPr>
          <p:nvPr/>
        </p:nvCxnSpPr>
        <p:spPr>
          <a:xfrm>
            <a:off x="6112132" y="4293670"/>
            <a:ext cx="1113514" cy="45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: curvado 44"/>
          <p:cNvCxnSpPr>
            <a:stCxn id="28" idx="2"/>
          </p:cNvCxnSpPr>
          <p:nvPr/>
        </p:nvCxnSpPr>
        <p:spPr>
          <a:xfrm rot="10800000" flipV="1">
            <a:off x="1187859" y="1533507"/>
            <a:ext cx="1393955" cy="310441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: curvado 47"/>
          <p:cNvCxnSpPr>
            <a:stCxn id="28" idx="6"/>
          </p:cNvCxnSpPr>
          <p:nvPr/>
        </p:nvCxnSpPr>
        <p:spPr>
          <a:xfrm>
            <a:off x="6830285" y="1533508"/>
            <a:ext cx="1695775" cy="33332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66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 Proceso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11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2050" name="Picture 2" descr="https://vicentealarcon1.files.wordpress.com/2013/03/diagrama-de-fluj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746" y="1268759"/>
            <a:ext cx="4175176" cy="490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9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de Usuario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/>
              <a:t>Diferentes tipos y niveles de conocimiento </a:t>
            </a:r>
          </a:p>
          <a:p>
            <a:r>
              <a:rPr lang="es-CO" sz="2800" dirty="0"/>
              <a:t>Instaladores </a:t>
            </a:r>
          </a:p>
          <a:p>
            <a:r>
              <a:rPr lang="es-CO" sz="2800" dirty="0"/>
              <a:t>Personal de mantenimiento </a:t>
            </a:r>
          </a:p>
          <a:p>
            <a:r>
              <a:rPr lang="es-CO" sz="2800" dirty="0"/>
              <a:t>Administradores del sistema </a:t>
            </a:r>
          </a:p>
          <a:p>
            <a:r>
              <a:rPr lang="es-CO" sz="2800" dirty="0"/>
              <a:t>Otro personal de soporte Usuarios del producto final Principiantes </a:t>
            </a:r>
          </a:p>
          <a:p>
            <a:r>
              <a:rPr lang="es-CO" sz="2800" dirty="0"/>
              <a:t>Intermedio </a:t>
            </a:r>
          </a:p>
          <a:p>
            <a:r>
              <a:rPr lang="es-CO" sz="2800" dirty="0"/>
              <a:t>Expertos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12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3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de Usuario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Características de los usuarios</a:t>
            </a:r>
          </a:p>
          <a:p>
            <a:r>
              <a:rPr lang="es-CO" dirty="0"/>
              <a:t>Experiencia de trabajo</a:t>
            </a:r>
          </a:p>
          <a:p>
            <a:r>
              <a:rPr lang="es-CO" dirty="0"/>
              <a:t>Nivel de educación</a:t>
            </a:r>
          </a:p>
          <a:p>
            <a:r>
              <a:rPr lang="es-CO" dirty="0"/>
              <a:t>Edad (Ej. Niños, jóvenes, adultos, adultos mayores)</a:t>
            </a:r>
          </a:p>
          <a:p>
            <a:r>
              <a:rPr lang="es-CO" dirty="0"/>
              <a:t>Contacto previo con un computador</a:t>
            </a:r>
          </a:p>
          <a:p>
            <a:r>
              <a:rPr lang="es-CO" dirty="0"/>
              <a:t>Nivel cultural</a:t>
            </a:r>
          </a:p>
          <a:p>
            <a:r>
              <a:rPr lang="es-CO" dirty="0"/>
              <a:t>Personalidad</a:t>
            </a:r>
          </a:p>
          <a:p>
            <a:r>
              <a:rPr lang="es-CO" dirty="0"/>
              <a:t>Tiempo disponible para la capacitación y entrenamiento</a:t>
            </a:r>
          </a:p>
          <a:p>
            <a:r>
              <a:rPr lang="es-CO" dirty="0"/>
              <a:t>Frecuencia de uso de la herramienta</a:t>
            </a:r>
          </a:p>
          <a:p>
            <a:r>
              <a:rPr lang="es-CO" dirty="0"/>
              <a:t>Nivel de carga laboral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13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5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de Usuario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Cómo hacerlo:</a:t>
            </a:r>
          </a:p>
          <a:p>
            <a:r>
              <a:rPr lang="es-CO" dirty="0"/>
              <a:t>Análisis del mercado</a:t>
            </a:r>
          </a:p>
          <a:p>
            <a:r>
              <a:rPr lang="es-CO" dirty="0"/>
              <a:t>Visitas al sitio de trabajo</a:t>
            </a:r>
          </a:p>
          <a:p>
            <a:r>
              <a:rPr lang="es-CO" dirty="0"/>
              <a:t>Estudios observacionales</a:t>
            </a:r>
          </a:p>
          <a:p>
            <a:r>
              <a:rPr lang="es-CO" dirty="0"/>
              <a:t>Cuestionarios</a:t>
            </a:r>
          </a:p>
          <a:p>
            <a:r>
              <a:rPr lang="es-CO" dirty="0"/>
              <a:t>Entrevistas</a:t>
            </a:r>
          </a:p>
          <a:p>
            <a:r>
              <a:rPr lang="es-CO" dirty="0"/>
              <a:t>Participación de los usuarios en el proyecto</a:t>
            </a:r>
          </a:p>
          <a:p>
            <a:r>
              <a:rPr lang="es-CO" dirty="0"/>
              <a:t>Investigación de experiencia de usuario</a:t>
            </a:r>
          </a:p>
          <a:p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14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12303" y="332656"/>
            <a:ext cx="4843682" cy="637197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CARACTERÍSTICAS DE LOS USUARIOS</a:t>
            </a:r>
            <a:endParaRPr lang="es-CO" sz="3000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485649"/>
              </p:ext>
            </p:extLst>
          </p:nvPr>
        </p:nvGraphicFramePr>
        <p:xfrm>
          <a:off x="139298" y="1268760"/>
          <a:ext cx="8748465" cy="496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9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72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72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6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93065"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Usuarios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Frecuencia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uso de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sistemas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Dominio y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Conocimiento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Tiempo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disponible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aprender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Motivación</a:t>
                      </a:r>
                      <a:endParaRPr lang="es-ES" sz="1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Nivel de distracción en el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trabajo</a:t>
                      </a:r>
                      <a:endParaRPr lang="es-E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Conocimiento de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Software: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Mínimo Office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Conocimiento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</a:p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computadores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Sistema de soporte</a:t>
                      </a:r>
                      <a:endParaRPr lang="es-E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29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Enfermeras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48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Asesor genético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20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Médico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investigador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20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Asistente de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investigación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Administrador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la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20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Gerente del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proyecto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530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Administrador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red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283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Persona que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ingresa los datos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(digitador)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  <a:p>
                      <a:pPr algn="ctr"/>
                      <a:endParaRPr lang="es-ES" sz="105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579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Programador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579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Secretaria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488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Administrador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la </a:t>
                      </a:r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Bajo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Alto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Medio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379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16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1026" name="Picture 2" descr="Chart of 20 user research methods, classified along 3 dimensi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471" y="1196752"/>
            <a:ext cx="575505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179512" y="5908093"/>
            <a:ext cx="65319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https://www.nngroup.com/articles/which-ux-research-methods/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225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79512" y="5908093"/>
            <a:ext cx="65319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hlinkClick r:id="rId2"/>
              </a:rPr>
              <a:t>https://www.nngroup.com/articles/which-ux-research-methods/</a:t>
            </a:r>
            <a:r>
              <a:rPr lang="es-CO" dirty="0"/>
              <a:t> </a:t>
            </a:r>
          </a:p>
        </p:txBody>
      </p:sp>
      <p:pic>
        <p:nvPicPr>
          <p:cNvPr id="4100" name="Picture 4" descr="Two dimentions of questions that can be answered by user research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64" y="1260712"/>
            <a:ext cx="6890272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34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b="1" dirty="0"/>
              <a:t>Actitudinal </a:t>
            </a:r>
          </a:p>
          <a:p>
            <a:pPr lvl="1"/>
            <a:r>
              <a:rPr lang="es-CO" dirty="0"/>
              <a:t>“lo que la gente dice”</a:t>
            </a:r>
          </a:p>
          <a:p>
            <a:pPr lvl="1"/>
            <a:r>
              <a:rPr lang="es-CO" dirty="0"/>
              <a:t>Entender o medir creencias declaradas</a:t>
            </a:r>
          </a:p>
          <a:p>
            <a:r>
              <a:rPr lang="es-CO" b="1" dirty="0"/>
              <a:t>Comportamental</a:t>
            </a:r>
          </a:p>
          <a:p>
            <a:pPr lvl="1"/>
            <a:r>
              <a:rPr lang="es-CO" dirty="0"/>
              <a:t>“lo que la gente hace”</a:t>
            </a:r>
          </a:p>
          <a:p>
            <a:pPr lvl="1"/>
            <a:endParaRPr lang="es-CO" b="1" dirty="0"/>
          </a:p>
          <a:p>
            <a:r>
              <a:rPr lang="es-CO" b="1" dirty="0"/>
              <a:t>Cualitativo</a:t>
            </a:r>
          </a:p>
          <a:p>
            <a:pPr lvl="1"/>
            <a:r>
              <a:rPr lang="es-CO" dirty="0"/>
              <a:t>Generan datos sobre comportamientos o actitudes basados ​​en su observación directa</a:t>
            </a:r>
          </a:p>
          <a:p>
            <a:pPr lvl="1"/>
            <a:r>
              <a:rPr lang="es-CO" dirty="0"/>
              <a:t>Resolver preguntas “por qué” o “como solucionar problemas”</a:t>
            </a:r>
          </a:p>
          <a:p>
            <a:r>
              <a:rPr lang="es-CO" b="1" dirty="0"/>
              <a:t>Cuantitativo</a:t>
            </a:r>
          </a:p>
          <a:p>
            <a:pPr lvl="1"/>
            <a:r>
              <a:rPr lang="es-CO" dirty="0"/>
              <a:t>Los datos sobre el comportamiento o las actitudes en cuestión se obtienen indirectamente</a:t>
            </a:r>
          </a:p>
          <a:p>
            <a:pPr lvl="1"/>
            <a:r>
              <a:rPr lang="es-CO" dirty="0"/>
              <a:t>Resolver preguntas “cuantos”</a:t>
            </a:r>
          </a:p>
          <a:p>
            <a:endParaRPr lang="es-CO" b="1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18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</a:p>
        </p:txBody>
      </p:sp>
    </p:spTree>
    <p:extLst>
      <p:ext uri="{BB962C8B-B14F-4D97-AF65-F5344CB8AC3E}">
        <p14:creationId xmlns:p14="http://schemas.microsoft.com/office/powerpoint/2010/main" val="1794023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5073428"/>
          </a:xfrm>
        </p:spPr>
        <p:txBody>
          <a:bodyPr/>
          <a:lstStyle/>
          <a:p>
            <a:r>
              <a:rPr lang="es-CO" dirty="0"/>
              <a:t>Contexto de Uso</a:t>
            </a:r>
          </a:p>
          <a:p>
            <a:pPr lvl="1"/>
            <a:r>
              <a:rPr lang="es-CO" dirty="0"/>
              <a:t>Natural o casi natural:</a:t>
            </a:r>
          </a:p>
          <a:p>
            <a:pPr lvl="2"/>
            <a:r>
              <a:rPr lang="es-CO" dirty="0"/>
              <a:t>Minimizar la interferencia del producto</a:t>
            </a:r>
          </a:p>
          <a:p>
            <a:pPr lvl="2"/>
            <a:r>
              <a:rPr lang="es-CO" dirty="0"/>
              <a:t>Mayor validez, pero menor control sobre lo que queremos saber</a:t>
            </a:r>
          </a:p>
          <a:p>
            <a:pPr lvl="2"/>
            <a:r>
              <a:rPr lang="es-CO" dirty="0"/>
              <a:t>Métodos etnográficos</a:t>
            </a:r>
          </a:p>
          <a:p>
            <a:pPr lvl="2"/>
            <a:r>
              <a:rPr lang="es-CO" dirty="0"/>
              <a:t>Encuestas, minería de datos</a:t>
            </a:r>
          </a:p>
          <a:p>
            <a:pPr lvl="1"/>
            <a:r>
              <a:rPr lang="es-CO" dirty="0"/>
              <a:t>Con guion</a:t>
            </a:r>
          </a:p>
          <a:p>
            <a:pPr lvl="2"/>
            <a:r>
              <a:rPr lang="es-CO" dirty="0"/>
              <a:t>Enfoque sobre aspectos específicos de uso</a:t>
            </a:r>
          </a:p>
          <a:p>
            <a:pPr lvl="2"/>
            <a:r>
              <a:rPr lang="es-CO" dirty="0"/>
              <a:t>Puede producir métricas</a:t>
            </a:r>
          </a:p>
          <a:p>
            <a:pPr lvl="1"/>
            <a:r>
              <a:rPr lang="es-CO" dirty="0"/>
              <a:t>No usan el producto</a:t>
            </a:r>
          </a:p>
          <a:p>
            <a:pPr lvl="2"/>
            <a:r>
              <a:rPr lang="es-CO" dirty="0"/>
              <a:t>Para examinar cuestiones mas amplias que el uso o la usabilidad</a:t>
            </a:r>
          </a:p>
          <a:p>
            <a:pPr lvl="2"/>
            <a:r>
              <a:rPr lang="es-CO" dirty="0"/>
              <a:t>Estudios de marca o cultura</a:t>
            </a:r>
          </a:p>
          <a:p>
            <a:pPr lvl="1"/>
            <a:r>
              <a:rPr lang="es-CO" dirty="0"/>
              <a:t>Híbrido</a:t>
            </a:r>
          </a:p>
          <a:p>
            <a:pPr lvl="2"/>
            <a:r>
              <a:rPr lang="es-CO" dirty="0"/>
              <a:t>Se mueven en varias dimensiones</a:t>
            </a:r>
          </a:p>
          <a:p>
            <a:pPr lvl="2"/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19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856"/>
            <a:ext cx="8229600" cy="1143000"/>
          </a:xfrm>
        </p:spPr>
        <p:txBody>
          <a:bodyPr/>
          <a:lstStyle/>
          <a:p>
            <a:r>
              <a:rPr lang="es-CO" dirty="0"/>
              <a:t>TURF: Análisis de Usuarios</a:t>
            </a:r>
          </a:p>
        </p:txBody>
      </p:sp>
    </p:spTree>
    <p:extLst>
      <p:ext uri="{BB962C8B-B14F-4D97-AF65-F5344CB8AC3E}">
        <p14:creationId xmlns:p14="http://schemas.microsoft.com/office/powerpoint/2010/main" val="1126217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35698"/>
          </a:xfrm>
        </p:spPr>
        <p:txBody>
          <a:bodyPr>
            <a:noAutofit/>
          </a:bodyPr>
          <a:lstStyle/>
          <a:p>
            <a:r>
              <a:rPr lang="es-CO" sz="2000" dirty="0"/>
              <a:t>Algunas Herramientas:</a:t>
            </a:r>
          </a:p>
          <a:p>
            <a:pPr lvl="1"/>
            <a:r>
              <a:rPr lang="es-CO" b="1" dirty="0" err="1"/>
              <a:t>Card</a:t>
            </a:r>
            <a:r>
              <a:rPr lang="es-CO" b="1" dirty="0"/>
              <a:t> </a:t>
            </a:r>
            <a:r>
              <a:rPr lang="es-CO" b="1" dirty="0" err="1"/>
              <a:t>Sorting</a:t>
            </a:r>
            <a:r>
              <a:rPr lang="es-CO" b="1" dirty="0"/>
              <a:t>: </a:t>
            </a:r>
            <a:r>
              <a:rPr lang="es-CO" dirty="0"/>
              <a:t>Proporciona información sobre el modelo mental de los usuarios de un espacio de información y puede ayudar a determinar la mejor arquitectura de información para su producto o aplicación.</a:t>
            </a:r>
          </a:p>
          <a:p>
            <a:pPr lvl="1"/>
            <a:endParaRPr lang="es-CO" dirty="0"/>
          </a:p>
          <a:p>
            <a:pPr lvl="1"/>
            <a:r>
              <a:rPr lang="es-CO" b="1" dirty="0"/>
              <a:t>Entrevistas: </a:t>
            </a:r>
            <a:r>
              <a:rPr lang="es-CO" dirty="0"/>
              <a:t>Las encuestas miden y categorizan las actitudes o recopilan datos </a:t>
            </a:r>
            <a:r>
              <a:rPr lang="es-CO" dirty="0" err="1"/>
              <a:t>autoinformados</a:t>
            </a:r>
            <a:r>
              <a:rPr lang="es-CO" dirty="0"/>
              <a:t> que pueden ayudar a rastrear o descubrir cuestiones importantes que abordar.</a:t>
            </a:r>
          </a:p>
          <a:p>
            <a:pPr lvl="1"/>
            <a:endParaRPr lang="es-CO" dirty="0"/>
          </a:p>
          <a:p>
            <a:pPr lvl="1"/>
            <a:r>
              <a:rPr lang="es-CO" b="1" dirty="0"/>
              <a:t>Grupos Focales: </a:t>
            </a:r>
            <a:r>
              <a:rPr lang="es-CO" dirty="0"/>
              <a:t>Los grupos focales tienden a ser menos útiles para propósitos de usabilidad, por una variedad de razones, pero proporcionan una visión superior de lo que la gente piensa acerca de una marca o un concepto de producto en un entorno de grupo.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20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  <a:br>
              <a:rPr lang="es-CO" dirty="0"/>
            </a:br>
            <a:r>
              <a:rPr lang="es-CO" dirty="0"/>
              <a:t>Actitudinal</a:t>
            </a:r>
          </a:p>
        </p:txBody>
      </p:sp>
    </p:spTree>
    <p:extLst>
      <p:ext uri="{BB962C8B-B14F-4D97-AF65-F5344CB8AC3E}">
        <p14:creationId xmlns:p14="http://schemas.microsoft.com/office/powerpoint/2010/main" val="1834404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Algunas Herramientas:</a:t>
            </a:r>
          </a:p>
          <a:p>
            <a:pPr lvl="1"/>
            <a:r>
              <a:rPr lang="es-CO" b="1" dirty="0"/>
              <a:t>Pruebas de A/B: P</a:t>
            </a:r>
            <a:r>
              <a:rPr lang="es-CO" dirty="0"/>
              <a:t>resentan cambios en el diseño de un sitio a muestras aleatorias de visitantes del sitio, pero intenta mantener todo lo demás constante, para ver el efecto de diferentes opciones de diseño de sitio en el comportamiento</a:t>
            </a:r>
          </a:p>
          <a:p>
            <a:pPr marL="457200" lvl="1" indent="0">
              <a:buNone/>
            </a:pPr>
            <a:endParaRPr lang="es-CO" dirty="0"/>
          </a:p>
          <a:p>
            <a:pPr lvl="1"/>
            <a:r>
              <a:rPr lang="es-CO" b="1" dirty="0"/>
              <a:t>Seguimiento de Ojos: </a:t>
            </a:r>
            <a:r>
              <a:rPr lang="es-CO" dirty="0"/>
              <a:t>Busca entender cómo los usuarios interactúan visualmente con diseños de interfaces.</a:t>
            </a:r>
          </a:p>
          <a:p>
            <a:pPr lvl="1"/>
            <a:endParaRPr lang="es-CO" dirty="0"/>
          </a:p>
          <a:p>
            <a:pPr lvl="1"/>
            <a:r>
              <a:rPr lang="es-CO" dirty="0"/>
              <a:t>Estudios de Usabilidad</a:t>
            </a:r>
          </a:p>
          <a:p>
            <a:pPr lvl="1"/>
            <a:endParaRPr lang="es-CO" dirty="0"/>
          </a:p>
          <a:p>
            <a:pPr lvl="1"/>
            <a:r>
              <a:rPr lang="es-CO" dirty="0"/>
              <a:t>Estudios de campo</a:t>
            </a:r>
          </a:p>
          <a:p>
            <a:pPr lvl="1"/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21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  <a:br>
              <a:rPr lang="es-CO" dirty="0"/>
            </a:br>
            <a:r>
              <a:rPr lang="es-CO" dirty="0"/>
              <a:t>Comportamental</a:t>
            </a:r>
          </a:p>
        </p:txBody>
      </p:sp>
    </p:spTree>
    <p:extLst>
      <p:ext uri="{BB962C8B-B14F-4D97-AF65-F5344CB8AC3E}">
        <p14:creationId xmlns:p14="http://schemas.microsoft.com/office/powerpoint/2010/main" val="328211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contenido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760633"/>
              </p:ext>
            </p:extLst>
          </p:nvPr>
        </p:nvGraphicFramePr>
        <p:xfrm>
          <a:off x="107504" y="1600200"/>
          <a:ext cx="8856984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97841521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222555445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827564075"/>
                    </a:ext>
                  </a:extLst>
                </a:gridCol>
                <a:gridCol w="2214246">
                  <a:extLst>
                    <a:ext uri="{9D8B030D-6E8A-4147-A177-3AD203B41FA5}">
                      <a16:colId xmlns:a16="http://schemas.microsoft.com/office/drawing/2014/main" val="3491342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Estrategia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Evaluación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78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Objetivo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Inspire, explore y elija nuevas direcciones y oportunidades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Informar y optimizar diseños con el fin de reducir el riesgo y mejorar la usabilidad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Medir el rendimiento del producto en contra de sí mismo o de su competencia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10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Aproximación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Cualitativo</a:t>
                      </a:r>
                      <a:r>
                        <a:rPr lang="es-CO" baseline="0" dirty="0"/>
                        <a:t> y Cuantitativo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Principalmente cualitativo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Principalmente</a:t>
                      </a:r>
                      <a:r>
                        <a:rPr lang="es-CO" baseline="0" dirty="0"/>
                        <a:t> Cuantitativo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03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Métodos típicos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Estudios de campo, estudios diarios, encuestas, minería de datos o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Card</a:t>
                      </a:r>
                      <a:r>
                        <a:rPr lang="es-CO" dirty="0"/>
                        <a:t> </a:t>
                      </a:r>
                      <a:r>
                        <a:rPr lang="es-CO" dirty="0" err="1"/>
                        <a:t>Sorting</a:t>
                      </a:r>
                      <a:r>
                        <a:rPr lang="es-CO" dirty="0"/>
                        <a:t>, estudios de campo, diseño participativo, prototipo de papel y estudios de usabilidad, estudios de deseabilidad, correos electrónicos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Benchmarking de usabilidad, evaluaciones en línea, encuestas, pruebas A /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78440"/>
                  </a:ext>
                </a:extLst>
              </a:tr>
            </a:tbl>
          </a:graphicData>
        </a:graphic>
      </p:graphicFrame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22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TURF: Análisis de Usuarios</a:t>
            </a:r>
            <a:br>
              <a:rPr lang="es-CO" dirty="0"/>
            </a:br>
            <a:r>
              <a:rPr lang="es-CO" dirty="0"/>
              <a:t>Dimensión de tiempo</a:t>
            </a:r>
          </a:p>
        </p:txBody>
      </p:sp>
    </p:spTree>
    <p:extLst>
      <p:ext uri="{BB962C8B-B14F-4D97-AF65-F5344CB8AC3E}">
        <p14:creationId xmlns:p14="http://schemas.microsoft.com/office/powerpoint/2010/main" val="2055194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Funcional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b="1" dirty="0"/>
              <a:t>Ontología </a:t>
            </a:r>
          </a:p>
          <a:p>
            <a:r>
              <a:rPr lang="es-CO" sz="2800" dirty="0"/>
              <a:t>Estructura jerárquica que describe términos y sus relaciones </a:t>
            </a:r>
          </a:p>
          <a:p>
            <a:r>
              <a:rPr lang="es-CO" sz="2800" dirty="0"/>
              <a:t>Definida en términos de: </a:t>
            </a:r>
          </a:p>
          <a:p>
            <a:pPr lvl="1"/>
            <a:r>
              <a:rPr lang="es-CO" sz="2800" dirty="0"/>
              <a:t>Metas (Objetivos) </a:t>
            </a:r>
          </a:p>
          <a:p>
            <a:pPr lvl="1"/>
            <a:r>
              <a:rPr lang="es-CO" sz="2800" dirty="0"/>
              <a:t>Objetos </a:t>
            </a:r>
          </a:p>
          <a:p>
            <a:pPr lvl="1"/>
            <a:r>
              <a:rPr lang="es-CO" sz="2800" dirty="0"/>
              <a:t>Limitantes </a:t>
            </a:r>
          </a:p>
          <a:p>
            <a:pPr lvl="1"/>
            <a:r>
              <a:rPr lang="es-CO" sz="2800" dirty="0"/>
              <a:t>Operaciones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389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Funcional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/>
              <a:t>Sirve para: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sz="2800" dirty="0"/>
              <a:t>Identificar la estructura optima de las tareas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s-CO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CO" sz="2800" dirty="0"/>
              <a:t>Optimizar el desarrollo de las tareas</a:t>
            </a:r>
          </a:p>
          <a:p>
            <a:pPr marL="457200" lvl="1" indent="0">
              <a:buNone/>
            </a:pPr>
            <a:r>
              <a:rPr lang="es-CO" sz="28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sz="2800" dirty="0"/>
              <a:t>Encontrar nuevas características y funcionalidades con el sistema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24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983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Funcional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b="1" dirty="0"/>
              <a:t>Ejemplo: </a:t>
            </a:r>
          </a:p>
          <a:p>
            <a:r>
              <a:rPr lang="es-CO" b="1" dirty="0"/>
              <a:t>Meta: </a:t>
            </a:r>
            <a:r>
              <a:rPr lang="es-CO" dirty="0"/>
              <a:t>Admitir un paciente </a:t>
            </a:r>
          </a:p>
          <a:p>
            <a:r>
              <a:rPr lang="es-CO" b="1" dirty="0"/>
              <a:t>Objetos: </a:t>
            </a:r>
          </a:p>
          <a:p>
            <a:pPr lvl="1"/>
            <a:r>
              <a:rPr lang="es-CO" dirty="0"/>
              <a:t>Identificación </a:t>
            </a:r>
          </a:p>
          <a:p>
            <a:pPr lvl="1"/>
            <a:r>
              <a:rPr lang="es-CO" dirty="0"/>
              <a:t>Fecha de nacimiento </a:t>
            </a:r>
          </a:p>
          <a:p>
            <a:pPr lvl="1"/>
            <a:r>
              <a:rPr lang="es-CO" dirty="0"/>
              <a:t>Fecha actual </a:t>
            </a:r>
          </a:p>
          <a:p>
            <a:pPr lvl="1"/>
            <a:r>
              <a:rPr lang="es-CO" dirty="0"/>
              <a:t>Genero </a:t>
            </a:r>
          </a:p>
          <a:p>
            <a:pPr marL="0" indent="0">
              <a:buNone/>
            </a:pPr>
            <a:r>
              <a:rPr lang="es-CO" dirty="0"/>
              <a:t>• </a:t>
            </a:r>
            <a:r>
              <a:rPr lang="es-CO" b="1" dirty="0"/>
              <a:t>Limitante: </a:t>
            </a:r>
          </a:p>
          <a:p>
            <a:pPr lvl="1"/>
            <a:r>
              <a:rPr lang="es-CO" dirty="0"/>
              <a:t>La fecha actual puede ser igual , pero no menor a la fecha de nacimiento </a:t>
            </a:r>
          </a:p>
          <a:p>
            <a:pPr lvl="1"/>
            <a:r>
              <a:rPr lang="es-CO" dirty="0"/>
              <a:t>Solo se permite un registro para cada persona </a:t>
            </a:r>
          </a:p>
          <a:p>
            <a:pPr marL="0" indent="0">
              <a:buNone/>
            </a:pPr>
            <a:r>
              <a:rPr lang="es-CO" dirty="0"/>
              <a:t>• </a:t>
            </a:r>
            <a:r>
              <a:rPr lang="es-CO" b="1" dirty="0"/>
              <a:t>Operaciones: </a:t>
            </a:r>
          </a:p>
          <a:p>
            <a:pPr lvl="1"/>
            <a:r>
              <a:rPr lang="es-CO" dirty="0"/>
              <a:t>Validación de la fecha </a:t>
            </a:r>
          </a:p>
          <a:p>
            <a:pPr lvl="1"/>
            <a:r>
              <a:rPr lang="es-CO" dirty="0"/>
              <a:t>Validación de número de identidad </a:t>
            </a:r>
          </a:p>
          <a:p>
            <a:pPr lvl="1"/>
            <a:r>
              <a:rPr lang="es-CO" dirty="0"/>
              <a:t>Verificación de su existencia en el registro de datos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25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326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Funcional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Limitantes</a:t>
            </a:r>
          </a:p>
          <a:p>
            <a:r>
              <a:rPr lang="es-CO" dirty="0"/>
              <a:t>(Dependencia entre operaciones y objetos)</a:t>
            </a:r>
          </a:p>
          <a:p>
            <a:pPr lvl="1"/>
            <a:r>
              <a:rPr lang="es-CO" dirty="0" err="1"/>
              <a:t>Ej</a:t>
            </a:r>
            <a:r>
              <a:rPr lang="es-CO" dirty="0"/>
              <a:t>: Dependencia entre formular a un paciente y el medicamento (</a:t>
            </a:r>
            <a:r>
              <a:rPr lang="es-CO" dirty="0" err="1"/>
              <a:t>Metformina</a:t>
            </a:r>
            <a:r>
              <a:rPr lang="es-CO" dirty="0"/>
              <a:t>), dado que existen actividades que no se prescriben.</a:t>
            </a:r>
          </a:p>
          <a:p>
            <a:r>
              <a:rPr lang="es-CO" dirty="0"/>
              <a:t>(Dependencia entre objetos)</a:t>
            </a:r>
          </a:p>
          <a:p>
            <a:pPr lvl="1"/>
            <a:r>
              <a:rPr lang="es-CO" dirty="0" err="1"/>
              <a:t>Ej</a:t>
            </a:r>
            <a:r>
              <a:rPr lang="es-CO" dirty="0"/>
              <a:t>: Variación de la dosis según el valor de glicemia</a:t>
            </a:r>
          </a:p>
          <a:p>
            <a:r>
              <a:rPr lang="es-CO" dirty="0"/>
              <a:t>(Dependencia entre operaciones)</a:t>
            </a:r>
          </a:p>
          <a:p>
            <a:r>
              <a:rPr lang="es-CO" dirty="0" err="1"/>
              <a:t>Ej</a:t>
            </a:r>
            <a:r>
              <a:rPr lang="es-CO" dirty="0"/>
              <a:t>: Permitir formular un medicamento si se modifica la lista de problemas (diagnósticos) del paciente</a:t>
            </a:r>
          </a:p>
          <a:p>
            <a:pPr marL="0" indent="0">
              <a:buNone/>
            </a:pPr>
            <a:r>
              <a:rPr lang="es-CO" b="1" dirty="0"/>
              <a:t>Operaciones:</a:t>
            </a:r>
          </a:p>
          <a:p>
            <a:r>
              <a:rPr lang="es-CO" dirty="0"/>
              <a:t>Escribir la prescripción del medicamento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26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842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066" y="1417638"/>
            <a:ext cx="6890002" cy="4747665"/>
          </a:xfrm>
          <a:prstGeom prst="rect">
            <a:avLst/>
          </a:prstGeom>
        </p:spPr>
      </p:pic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TURF – Análisis Funcional</a:t>
            </a:r>
          </a:p>
        </p:txBody>
      </p:sp>
    </p:spTree>
    <p:extLst>
      <p:ext uri="{BB962C8B-B14F-4D97-AF65-F5344CB8AC3E}">
        <p14:creationId xmlns:p14="http://schemas.microsoft.com/office/powerpoint/2010/main" val="2292502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5736" y="260648"/>
            <a:ext cx="6611815" cy="637197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A que funcionalidades ingresan los usuarios</a:t>
            </a:r>
            <a:endParaRPr lang="es-CO" sz="3000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346136"/>
              </p:ext>
            </p:extLst>
          </p:nvPr>
        </p:nvGraphicFramePr>
        <p:xfrm>
          <a:off x="5274" y="1124744"/>
          <a:ext cx="9138727" cy="5418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1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3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8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4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66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99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31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750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26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657965"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Usuarios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FHQ+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Interviews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Proband</a:t>
                      </a:r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Family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App't</a:t>
                      </a:r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Enters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Edits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Prints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Pedigree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Reviews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Pedigree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FRA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GC*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Installation</a:t>
                      </a:r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Support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Upgrades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Backup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</a:t>
                      </a:r>
                      <a:endParaRPr lang="es-ES" sz="10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jobs</a:t>
                      </a:r>
                      <a:endParaRPr lang="es-E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07"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Enfermeras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53"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Asesor genético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836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13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Científico investigador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201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Asistente de búsqueda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13">
                <a:tc>
                  <a:txBody>
                    <a:bodyPr/>
                    <a:lstStyle/>
                    <a:p>
                      <a:r>
                        <a:rPr lang="es-ES" sz="1000" dirty="0"/>
                        <a:t>Gerente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813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Gerente del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proyecto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980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Administrador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red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515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Persona que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ingresa los datos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(digitador)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432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Programador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32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Secretaria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535">
                <a:tc>
                  <a:txBody>
                    <a:bodyPr/>
                    <a:lstStyle/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Administrador</a:t>
                      </a:r>
                    </a:p>
                    <a:p>
                      <a:r>
                        <a:rPr lang="es-ES" sz="10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la </a:t>
                      </a:r>
                      <a:r>
                        <a:rPr lang="es-ES" sz="10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endParaRPr lang="es-E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592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7808" y="1412776"/>
            <a:ext cx="7772400" cy="2376264"/>
          </a:xfrm>
        </p:spPr>
        <p:txBody>
          <a:bodyPr/>
          <a:lstStyle/>
          <a:p>
            <a:r>
              <a:rPr lang="es-ES_tradnl" dirty="0"/>
              <a:t>MÓDULO DE USABILIDAD E INTEROPERABILIDAD</a:t>
            </a:r>
            <a:br>
              <a:rPr lang="es-ES_tradnl" dirty="0"/>
            </a:br>
            <a:br>
              <a:rPr lang="es-ES_tradnl" dirty="0"/>
            </a:br>
            <a:r>
              <a:rPr lang="es-ES_tradnl" dirty="0"/>
              <a:t>MARCO TURF</a:t>
            </a:r>
            <a:br>
              <a:rPr lang="es-ES_tradnl" dirty="0"/>
            </a:br>
            <a:r>
              <a:rPr lang="es-ES_tradnl" dirty="0"/>
              <a:t>TALLER DE ANÁLISIS DE USUARIOS Y FUNCIONALIDADES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4005064"/>
            <a:ext cx="8640960" cy="1752600"/>
          </a:xfrm>
        </p:spPr>
        <p:txBody>
          <a:bodyPr>
            <a:normAutofit/>
          </a:bodyPr>
          <a:lstStyle/>
          <a:p>
            <a:pPr algn="ctr"/>
            <a:endParaRPr lang="es-ES_tradnl" dirty="0"/>
          </a:p>
          <a:p>
            <a:pPr algn="ctr"/>
            <a:r>
              <a:rPr lang="es-ES_tradnl" dirty="0"/>
              <a:t>Docente: </a:t>
            </a:r>
          </a:p>
          <a:p>
            <a:pPr algn="ctr"/>
            <a:r>
              <a:rPr lang="es-ES_tradnl" dirty="0"/>
              <a:t>Ever Augusto Torres Silva </a:t>
            </a:r>
            <a:br>
              <a:rPr lang="es-ES_tradnl" dirty="0"/>
            </a:br>
            <a:r>
              <a:rPr lang="es-ES_tradnl" dirty="0">
                <a:hlinkClick r:id="rId2"/>
              </a:rPr>
              <a:t>ever.torres@ingbiomedica.com</a:t>
            </a:r>
            <a:r>
              <a:rPr lang="es-ES_tradnl" dirty="0"/>
              <a:t>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4303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49" y="1825625"/>
            <a:ext cx="8022981" cy="3080483"/>
          </a:xfrm>
        </p:spPr>
        <p:txBody>
          <a:bodyPr>
            <a:noAutofit/>
          </a:bodyPr>
          <a:lstStyle/>
          <a:p>
            <a:r>
              <a:rPr lang="es-ES" sz="2800" dirty="0"/>
              <a:t>Caracterizar los grupos de usuarios</a:t>
            </a:r>
          </a:p>
          <a:p>
            <a:r>
              <a:rPr lang="es-ES" sz="2800" dirty="0"/>
              <a:t>Definir la(s) funcionalidades con sus elementos constitutivos</a:t>
            </a:r>
          </a:p>
          <a:p>
            <a:endParaRPr lang="es-ES" sz="2800" dirty="0"/>
          </a:p>
          <a:p>
            <a:r>
              <a:rPr lang="es-ES" sz="2800" b="1" dirty="0"/>
              <a:t>Materiales</a:t>
            </a:r>
          </a:p>
          <a:p>
            <a:pPr lvl="1"/>
            <a:r>
              <a:rPr lang="es-ES" sz="2800" dirty="0"/>
              <a:t>Proceso Establecido</a:t>
            </a:r>
          </a:p>
          <a:p>
            <a:pPr lvl="1"/>
            <a:r>
              <a:rPr lang="es-ES" sz="2800" dirty="0"/>
              <a:t>Computadores con Internet</a:t>
            </a:r>
          </a:p>
          <a:p>
            <a:pPr lvl="1"/>
            <a:r>
              <a:rPr lang="es-ES" sz="2800" dirty="0"/>
              <a:t>Excel</a:t>
            </a:r>
          </a:p>
          <a:p>
            <a:pPr lvl="1"/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180995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del TURF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89" y="1417638"/>
            <a:ext cx="6893821" cy="4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88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s-ES" dirty="0"/>
              <a:t>Diferentes tipos y niveles de conocimiento</a:t>
            </a:r>
          </a:p>
          <a:p>
            <a:pPr lvl="1"/>
            <a:r>
              <a:rPr lang="es-ES" dirty="0"/>
              <a:t>Instaladores</a:t>
            </a:r>
          </a:p>
          <a:p>
            <a:pPr lvl="1"/>
            <a:r>
              <a:rPr lang="es-ES" dirty="0"/>
              <a:t>Personal de mantenimiento</a:t>
            </a:r>
          </a:p>
          <a:p>
            <a:pPr lvl="1"/>
            <a:r>
              <a:rPr lang="es-ES" dirty="0"/>
              <a:t>Administradores del sistema</a:t>
            </a:r>
          </a:p>
          <a:p>
            <a:pPr lvl="1"/>
            <a:r>
              <a:rPr lang="es-ES" dirty="0"/>
              <a:t>Otro personal de soporte</a:t>
            </a:r>
          </a:p>
          <a:p>
            <a:pPr lvl="1"/>
            <a:r>
              <a:rPr lang="es-ES" dirty="0"/>
              <a:t>Usuarios del producto final</a:t>
            </a:r>
          </a:p>
          <a:p>
            <a:pPr marL="457200" lvl="1" indent="0">
              <a:buNone/>
            </a:pPr>
            <a:endParaRPr lang="es-ES" dirty="0"/>
          </a:p>
          <a:p>
            <a:r>
              <a:rPr lang="es-ES" dirty="0"/>
              <a:t>Principiantes</a:t>
            </a:r>
          </a:p>
          <a:p>
            <a:r>
              <a:rPr lang="es-ES" dirty="0"/>
              <a:t>Intermedio</a:t>
            </a:r>
          </a:p>
          <a:p>
            <a:r>
              <a:rPr lang="es-ES" dirty="0"/>
              <a:t>Expertos</a:t>
            </a:r>
            <a:endParaRPr lang="es-CO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 dirty="0"/>
              <a:t>TURF-Análisis de usuarios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79179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TURF-Análisis de usuarios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417638"/>
            <a:ext cx="7886700" cy="47593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/>
              <a:t>Características de los usuarios</a:t>
            </a:r>
          </a:p>
          <a:p>
            <a:pPr marL="457200" lvl="1" indent="0">
              <a:buNone/>
            </a:pPr>
            <a:r>
              <a:rPr lang="es-ES" sz="2400" dirty="0"/>
              <a:t>•Experiencia de trabajo</a:t>
            </a:r>
          </a:p>
          <a:p>
            <a:pPr marL="457200" lvl="1" indent="0">
              <a:buNone/>
            </a:pPr>
            <a:r>
              <a:rPr lang="es-ES" sz="2400" dirty="0"/>
              <a:t>•Nivel de educación</a:t>
            </a:r>
          </a:p>
          <a:p>
            <a:pPr marL="457200" lvl="1" indent="0">
              <a:buNone/>
            </a:pPr>
            <a:r>
              <a:rPr lang="es-ES" sz="2400" dirty="0"/>
              <a:t>•Edad (Ej. Niños, jóvenes, adultos, adultos mayores)</a:t>
            </a:r>
          </a:p>
          <a:p>
            <a:pPr marL="457200" lvl="1" indent="0">
              <a:buNone/>
            </a:pPr>
            <a:r>
              <a:rPr lang="es-ES" sz="2400" dirty="0"/>
              <a:t>•Contacto previo con un computador</a:t>
            </a:r>
          </a:p>
          <a:p>
            <a:pPr marL="457200" lvl="1" indent="0">
              <a:buNone/>
            </a:pPr>
            <a:r>
              <a:rPr lang="es-ES" sz="2400" dirty="0"/>
              <a:t>•Nivel cultural</a:t>
            </a:r>
          </a:p>
          <a:p>
            <a:pPr marL="457200" lvl="1" indent="0">
              <a:buNone/>
            </a:pPr>
            <a:r>
              <a:rPr lang="es-ES" sz="2400" dirty="0"/>
              <a:t>•Personalidad</a:t>
            </a:r>
          </a:p>
          <a:p>
            <a:pPr marL="457200" lvl="1" indent="0">
              <a:buNone/>
            </a:pPr>
            <a:r>
              <a:rPr lang="es-ES" sz="2400" dirty="0"/>
              <a:t>•Tiempo disponible para la capacitación y entrenamiento</a:t>
            </a:r>
          </a:p>
          <a:p>
            <a:pPr marL="457200" lvl="1" indent="0">
              <a:buNone/>
            </a:pPr>
            <a:r>
              <a:rPr lang="es-ES" sz="2400" dirty="0"/>
              <a:t>•Frecuencia de uso de la herramienta</a:t>
            </a:r>
          </a:p>
          <a:p>
            <a:pPr marL="457200" lvl="1" indent="0">
              <a:buNone/>
            </a:pPr>
            <a:r>
              <a:rPr lang="es-ES" sz="2400" dirty="0"/>
              <a:t>•Nivel de carga laboral</a:t>
            </a:r>
          </a:p>
        </p:txBody>
      </p:sp>
    </p:spTree>
    <p:extLst>
      <p:ext uri="{BB962C8B-B14F-4D97-AF65-F5344CB8AC3E}">
        <p14:creationId xmlns:p14="http://schemas.microsoft.com/office/powerpoint/2010/main" val="1373138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TURF-Análisis de usuarios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/>
              <a:t>Cómo hacerlo:</a:t>
            </a:r>
          </a:p>
          <a:p>
            <a:r>
              <a:rPr lang="es-ES" sz="2800" dirty="0"/>
              <a:t>Análisis del mercado</a:t>
            </a:r>
          </a:p>
          <a:p>
            <a:r>
              <a:rPr lang="es-ES" sz="2800" dirty="0"/>
              <a:t>Visitas al sitio de trabajo</a:t>
            </a:r>
          </a:p>
          <a:p>
            <a:r>
              <a:rPr lang="es-ES" sz="2800" dirty="0"/>
              <a:t>Estudios observacionales</a:t>
            </a:r>
          </a:p>
          <a:p>
            <a:r>
              <a:rPr lang="es-ES" sz="2800" dirty="0"/>
              <a:t>Cuestionarios</a:t>
            </a:r>
          </a:p>
          <a:p>
            <a:r>
              <a:rPr lang="es-ES" sz="2800" dirty="0"/>
              <a:t>Entrevistas</a:t>
            </a:r>
          </a:p>
          <a:p>
            <a:r>
              <a:rPr lang="es-ES" sz="2800" dirty="0"/>
              <a:t>Participación de los usuarios en el proyecto</a:t>
            </a:r>
          </a:p>
          <a:p>
            <a:r>
              <a:rPr lang="es-ES" sz="2800" dirty="0"/>
              <a:t>Investigación de experiencia de usuario</a:t>
            </a:r>
          </a:p>
        </p:txBody>
      </p:sp>
    </p:spTree>
    <p:extLst>
      <p:ext uri="{BB962C8B-B14F-4D97-AF65-F5344CB8AC3E}">
        <p14:creationId xmlns:p14="http://schemas.microsoft.com/office/powerpoint/2010/main" val="2111296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TURF-Análisis funcional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379" y="1268760"/>
            <a:ext cx="8181242" cy="51377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Ejemplo: El doctor Pérez, le prescribe 500 mg de </a:t>
            </a:r>
            <a:r>
              <a:rPr lang="es-ES" dirty="0" err="1"/>
              <a:t>Metformina</a:t>
            </a:r>
            <a:r>
              <a:rPr lang="es-ES" dirty="0"/>
              <a:t>(tabletas) a un paciente, para tomar 2 veces al día por 90 días. El paciente es pre-</a:t>
            </a:r>
            <a:r>
              <a:rPr lang="es-ES" dirty="0" err="1"/>
              <a:t>diabetico</a:t>
            </a:r>
            <a:r>
              <a:rPr lang="es-ES" dirty="0"/>
              <a:t> y tiene una Glicemia de 110 mg/dl.</a:t>
            </a:r>
          </a:p>
          <a:p>
            <a:r>
              <a:rPr lang="es-ES" b="1" dirty="0"/>
              <a:t>Meta: </a:t>
            </a:r>
            <a:r>
              <a:rPr lang="es-ES" dirty="0"/>
              <a:t>Tratar un paciente pre-diabético con la glicemia ligeramente elevada.</a:t>
            </a:r>
          </a:p>
          <a:p>
            <a:r>
              <a:rPr lang="es-ES" b="1" dirty="0"/>
              <a:t>Objetos: 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–Nombre del paciente</a:t>
            </a:r>
          </a:p>
          <a:p>
            <a:pPr marL="457200" lvl="1" indent="0">
              <a:buNone/>
            </a:pPr>
            <a:r>
              <a:rPr lang="es-ES" dirty="0"/>
              <a:t>–Nombre del doctor</a:t>
            </a:r>
          </a:p>
          <a:p>
            <a:pPr marL="457200" lvl="1" indent="0">
              <a:buNone/>
            </a:pPr>
            <a:r>
              <a:rPr lang="es-ES" dirty="0"/>
              <a:t>–Diagnóstico</a:t>
            </a:r>
          </a:p>
          <a:p>
            <a:pPr marL="457200" lvl="1" indent="0">
              <a:buNone/>
            </a:pPr>
            <a:r>
              <a:rPr lang="es-ES" dirty="0"/>
              <a:t>–Nombre del medicamento</a:t>
            </a:r>
          </a:p>
          <a:p>
            <a:pPr marL="457200" lvl="1" indent="0">
              <a:buNone/>
            </a:pPr>
            <a:r>
              <a:rPr lang="es-ES" dirty="0"/>
              <a:t>–Dosis</a:t>
            </a:r>
          </a:p>
          <a:p>
            <a:pPr marL="457200" lvl="1" indent="0">
              <a:buNone/>
            </a:pPr>
            <a:r>
              <a:rPr lang="es-ES" dirty="0"/>
              <a:t>–Frecuencia</a:t>
            </a:r>
          </a:p>
          <a:p>
            <a:pPr marL="457200" lvl="1" indent="0">
              <a:buNone/>
            </a:pPr>
            <a:r>
              <a:rPr lang="es-ES" dirty="0"/>
              <a:t>–Duración</a:t>
            </a:r>
          </a:p>
          <a:p>
            <a:pPr marL="457200" lvl="1" indent="0">
              <a:buNone/>
            </a:pPr>
            <a:r>
              <a:rPr lang="es-ES" dirty="0"/>
              <a:t>–Ruta de administración</a:t>
            </a:r>
          </a:p>
          <a:p>
            <a:pPr marL="457200" lvl="1" indent="0">
              <a:buNone/>
            </a:pPr>
            <a:r>
              <a:rPr lang="es-ES" dirty="0"/>
              <a:t>–Valor de glicemia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49770" y="6459296"/>
            <a:ext cx="644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J. Zhang, M.F.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Walji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/ Journal of Biomedical Informatics 44 (2011) 1056–1067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307993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TURF-Análisis funcional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/>
              <a:t>Limitantes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–</a:t>
            </a:r>
            <a:r>
              <a:rPr lang="es-ES" b="1" dirty="0"/>
              <a:t>(Dependencia entre operaciones y objetos) </a:t>
            </a:r>
            <a:endParaRPr lang="es-ES" dirty="0"/>
          </a:p>
          <a:p>
            <a:pPr marL="457200" lvl="1" indent="0">
              <a:buNone/>
            </a:pPr>
            <a:r>
              <a:rPr lang="es-ES" dirty="0" err="1"/>
              <a:t>Ej</a:t>
            </a:r>
            <a:r>
              <a:rPr lang="es-ES" dirty="0"/>
              <a:t>: Dependencia entre formular a un paciente y el medicamento (</a:t>
            </a:r>
            <a:r>
              <a:rPr lang="es-ES" dirty="0" err="1"/>
              <a:t>Metformina</a:t>
            </a:r>
            <a:r>
              <a:rPr lang="es-ES" dirty="0"/>
              <a:t>), dado que existen actividades que no se prescriben.</a:t>
            </a:r>
          </a:p>
          <a:p>
            <a:pPr marL="457200" lvl="1" indent="0">
              <a:buNone/>
            </a:pPr>
            <a:r>
              <a:rPr lang="es-ES" dirty="0"/>
              <a:t>–</a:t>
            </a:r>
            <a:r>
              <a:rPr lang="es-ES" b="1" dirty="0"/>
              <a:t>(Dependencia entre objetos) 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marL="457200" lvl="1" indent="0">
              <a:buNone/>
            </a:pPr>
            <a:r>
              <a:rPr lang="es-ES" dirty="0" err="1"/>
              <a:t>Ej</a:t>
            </a:r>
            <a:r>
              <a:rPr lang="es-ES" dirty="0"/>
              <a:t>: Variación de la dosis según el valor de glicemia</a:t>
            </a:r>
          </a:p>
          <a:p>
            <a:pPr marL="457200" lvl="1" indent="0">
              <a:buNone/>
            </a:pPr>
            <a:r>
              <a:rPr lang="es-ES" dirty="0"/>
              <a:t>–</a:t>
            </a:r>
            <a:r>
              <a:rPr lang="es-ES" b="1" dirty="0"/>
              <a:t>(Dependencia entre operaciones) 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marL="457200" lvl="1" indent="0">
              <a:buNone/>
            </a:pPr>
            <a:r>
              <a:rPr lang="es-ES" dirty="0" err="1"/>
              <a:t>Ej</a:t>
            </a:r>
            <a:r>
              <a:rPr lang="es-ES" dirty="0"/>
              <a:t>: Permitir formular un medicamento si se modifica la lista de problemas (diagnósticos) del paciente</a:t>
            </a:r>
          </a:p>
          <a:p>
            <a:r>
              <a:rPr lang="es-ES" b="1" dirty="0"/>
              <a:t>Operaciones: 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–Escribir la prescripción del medicamento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6553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funcional</a:t>
            </a:r>
            <a:endParaRPr lang="es-CO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535490"/>
              </p:ext>
            </p:extLst>
          </p:nvPr>
        </p:nvGraphicFramePr>
        <p:xfrm>
          <a:off x="628650" y="2780928"/>
          <a:ext cx="7886700" cy="18030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49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Meta/Objetivo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Objetos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Operaciones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Limitante o restricciones a la operación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06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184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Ejemplo: Análisis de Usuario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38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7281"/>
            <a:ext cx="9144000" cy="26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02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Ejemplo: Análisis de Funcionalidades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85C-913A-4EB2-B52A-F8FE1014EC58}" type="datetime1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23/04/2017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>
                <a:solidFill>
                  <a:srgbClr val="EEECE1">
                    <a:lumMod val="90000"/>
                  </a:srgbClr>
                </a:solidFill>
              </a:rPr>
              <a:pPr/>
              <a:t>39</a:t>
            </a:fld>
            <a:endParaRPr lang="es-CO" dirty="0">
              <a:solidFill>
                <a:srgbClr val="EEECE1">
                  <a:lumMod val="90000"/>
                </a:srgbClr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916832"/>
            <a:ext cx="88011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626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1913</Words>
  <Application>Microsoft Office PowerPoint</Application>
  <PresentationFormat>Presentación en pantalla (4:3)</PresentationFormat>
  <Paragraphs>533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2" baseType="lpstr">
      <vt:lpstr>Arial</vt:lpstr>
      <vt:lpstr>Calibri</vt:lpstr>
      <vt:lpstr>1_Tema de Office</vt:lpstr>
      <vt:lpstr>MÓDULO DE USABILIDAD E INTEROPERABILIDAD  MARCO TURF ANÁLISIS DE USUARIOS Y FUNCIONALIDADES</vt:lpstr>
      <vt:lpstr>Algunas Definiciones</vt:lpstr>
      <vt:lpstr>Algunas Definiciones</vt:lpstr>
      <vt:lpstr>Algunas Definiciones</vt:lpstr>
      <vt:lpstr>Algunas definiciones</vt:lpstr>
      <vt:lpstr>MARCO TURF</vt:lpstr>
      <vt:lpstr>MARCO TURF</vt:lpstr>
      <vt:lpstr>Objetivos del TURF</vt:lpstr>
      <vt:lpstr>Marco TURF</vt:lpstr>
      <vt:lpstr>TURF: Un esquema para la usabilidad</vt:lpstr>
      <vt:lpstr>El Proceso</vt:lpstr>
      <vt:lpstr>TURF – Análisis de Usuario</vt:lpstr>
      <vt:lpstr>TURF – Análisis de Usuario</vt:lpstr>
      <vt:lpstr>TURF – Análisis de Usuario</vt:lpstr>
      <vt:lpstr>CARACTERÍSTICAS DE LOS USUARIOS</vt:lpstr>
      <vt:lpstr>TURF: Análisis de Usuarios</vt:lpstr>
      <vt:lpstr>TURF: Análisis de Usuarios</vt:lpstr>
      <vt:lpstr>TURF: Análisis de Usuarios</vt:lpstr>
      <vt:lpstr>TURF: Análisis de Usuarios</vt:lpstr>
      <vt:lpstr>TURF: Análisis de Usuarios Actitudinal</vt:lpstr>
      <vt:lpstr>TURF: Análisis de Usuarios Comportamental</vt:lpstr>
      <vt:lpstr>TURF: Análisis de Usuarios Dimensión de tiempo</vt:lpstr>
      <vt:lpstr>TURF – Análisis Funcional</vt:lpstr>
      <vt:lpstr>TURF – Análisis Funcional</vt:lpstr>
      <vt:lpstr>TURF – Análisis Funcional</vt:lpstr>
      <vt:lpstr>TURF – Análisis Funcional</vt:lpstr>
      <vt:lpstr>TURF – Análisis Funcional</vt:lpstr>
      <vt:lpstr>A que funcionalidades ingresan los usuarios</vt:lpstr>
      <vt:lpstr>MÓDULO DE USABILIDAD E INTEROPERABILIDAD  MARCO TURF TALLER DE ANÁLISIS DE USUARIOS Y FUNCIONALIDADES</vt:lpstr>
      <vt:lpstr>Objetivos</vt:lpstr>
      <vt:lpstr>Esquema del TURF</vt:lpstr>
      <vt:lpstr>TURF-Análisis de usuarios</vt:lpstr>
      <vt:lpstr>TURF-Análisis de usuarios</vt:lpstr>
      <vt:lpstr>TURF-Análisis de usuarios</vt:lpstr>
      <vt:lpstr>TURF-Análisis funcional</vt:lpstr>
      <vt:lpstr>TURF-Análisis funcional</vt:lpstr>
      <vt:lpstr>Análisis funcional</vt:lpstr>
      <vt:lpstr>Ejemplo: Análisis de Usuario</vt:lpstr>
      <vt:lpstr>Ejemplo: Análisis de Funcionalidades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TURF</dc:title>
  <dc:creator>ever.torres@ingbiomedica.com</dc:creator>
  <cp:lastModifiedBy>Ever Augusto Torres Silva</cp:lastModifiedBy>
  <cp:revision>120</cp:revision>
  <dcterms:created xsi:type="dcterms:W3CDTF">2014-02-03T18:19:19Z</dcterms:created>
  <dcterms:modified xsi:type="dcterms:W3CDTF">2017-04-23T14:58:52Z</dcterms:modified>
</cp:coreProperties>
</file>